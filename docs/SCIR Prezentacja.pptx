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1" r:id="rId5"/>
    <p:sldId id="278" r:id="rId6"/>
    <p:sldId id="263" r:id="rId7"/>
    <p:sldId id="264" r:id="rId8"/>
    <p:sldId id="265" r:id="rId9"/>
    <p:sldId id="279" r:id="rId10"/>
    <p:sldId id="280" r:id="rId11"/>
    <p:sldId id="268" r:id="rId12"/>
    <p:sldId id="269" r:id="rId13"/>
    <p:sldId id="282" r:id="rId14"/>
    <p:sldId id="283" r:id="rId15"/>
    <p:sldId id="284" r:id="rId16"/>
    <p:sldId id="285" r:id="rId17"/>
    <p:sldId id="286" r:id="rId18"/>
    <p:sldId id="287" r:id="rId19"/>
    <p:sldId id="281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>
        <p:scale>
          <a:sx n="150" d="100"/>
          <a:sy n="150" d="100"/>
        </p:scale>
        <p:origin x="-23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B2D"/>
            </a:gs>
            <a:gs pos="100000">
              <a:srgbClr val="16233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Line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06B6D4"/>
              </a:gs>
              <a:gs pos="50000">
                <a:srgbClr val="22D3EE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Accent"/>
          <p:cNvSpPr/>
          <p:nvPr userDrawn="1"/>
        </p:nvSpPr>
        <p:spPr>
          <a:xfrm>
            <a:off x="10972800" y="0"/>
            <a:ext cx="1219200" cy="1219200"/>
          </a:xfrm>
          <a:prstGeom prst="rtTriangl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BD5E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BD5E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BD5E1"/>
          </a:solidFill>
        </a:defRPr>
      </a:defPPr>
      <a:lvl1pPr marL="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41D1C-AA08-667D-FE7F-E20DC8937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3600"/>
              <a:t>Stacja Pogodowa
na Raspberry Pi Zero W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92F11-9883-08B6-DEE9-F3614AF36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Oliwier Szypczyn, Kacper Multan
SCIR — Sieci czujnikowe i Internetu rzeczy
2026</a:t>
            </a:r>
          </a:p>
        </p:txBody>
      </p:sp>
    </p:spTree>
    <p:extLst>
      <p:ext uri="{BB962C8B-B14F-4D97-AF65-F5344CB8AC3E}">
        <p14:creationId xmlns:p14="http://schemas.microsoft.com/office/powerpoint/2010/main" val="220624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EC81D5-4ACA-495D-875F-7099E7CC2E5D}"/>
              </a:ext>
            </a:extLst>
          </p:cNvPr>
          <p:cNvSpPr txBox="1"/>
          <p:nvPr/>
        </p:nvSpPr>
        <p:spPr>
          <a:xfrm>
            <a:off x="609600" y="1751448"/>
            <a:ext cx="10972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0F4F8"/>
                </a:solidFill>
              </a:rPr>
              <a:t>Cel projektu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23D1F-8D48-491B-86A8-BD1441193717}"/>
              </a:ext>
            </a:extLst>
          </p:cNvPr>
          <p:cNvSpPr txBox="1"/>
          <p:nvPr/>
        </p:nvSpPr>
        <p:spPr>
          <a:xfrm>
            <a:off x="609600" y="2767448"/>
            <a:ext cx="10972800" cy="23391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pl-PL" sz="1800" b="1" dirty="0">
                <a:solidFill>
                  <a:srgbClr val="06B6D4"/>
                </a:solidFill>
              </a:rPr>
              <a:t>Budowa stacji pogodowej opartej na Raspberry Pi Zero W</a:t>
            </a:r>
          </a:p>
          <a:p>
            <a:pPr marL="0" indent="0">
              <a:buNone/>
            </a:pPr>
            <a:r>
              <a:rPr lang="pl-PL" sz="1600" b="1" dirty="0">
                <a:solidFill>
                  <a:srgbClr val="F0F4F8"/>
                </a:solidFill>
              </a:rPr>
              <a:t>Ciągłe monitorowanie warunków atmosferycznych: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Temperatura, wilgotność, ciśnienie, natężenie światła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Odczyty co 60 sekund, praca 24/7</a:t>
            </a:r>
          </a:p>
          <a:p>
            <a:pPr marL="0" indent="0">
              <a:buNone/>
            </a:pPr>
            <a:r>
              <a:rPr lang="pl-PL" sz="1600" b="1" dirty="0">
                <a:solidFill>
                  <a:srgbClr val="F0F4F8"/>
                </a:solidFill>
              </a:rPr>
              <a:t>Przesyłanie danych do chmury ThingSpeak: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Wizualizacja w czasie rzeczywistym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Eksport danych do analizy statystycznej</a:t>
            </a:r>
          </a:p>
          <a:p>
            <a:pPr marL="0" indent="0">
              <a:buNone/>
            </a:pPr>
            <a:r>
              <a:rPr lang="pl-PL" sz="1600" b="1" dirty="0">
                <a:solidFill>
                  <a:srgbClr val="F0F4F8"/>
                </a:solidFill>
              </a:rPr>
              <a:t>Analiza statystyczna zebranych danych: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Korelacje, profile dobowe, anomalie, rozklłady</a:t>
            </a:r>
          </a:p>
        </p:txBody>
      </p:sp>
    </p:spTree>
    <p:extLst>
      <p:ext uri="{BB962C8B-B14F-4D97-AF65-F5344CB8AC3E}">
        <p14:creationId xmlns:p14="http://schemas.microsoft.com/office/powerpoint/2010/main" val="74781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7D2F80-30B2-4C6A-BC46-D7BA16934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0039"/>
              </p:ext>
            </p:extLst>
          </p:nvPr>
        </p:nvGraphicFramePr>
        <p:xfrm>
          <a:off x="457200" y="1651000"/>
          <a:ext cx="112776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2017216152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93367872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71282840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Komponent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Parametry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Rola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792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Raspberry Pi Zero WH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ARM11 1GHz, 512MB RAM, WiFi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Jednostka centralna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138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BME280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Temp ±1°C, Wilg ±3%, Ciśn ±1hPa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Czujnik temp/wilg/ciśnienia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10558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BH1750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1–65535 lx, I2C, 3.3V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Czujnik natężenia światła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8175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Breadboard + jumper wires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Płytka stykowa 400 otworów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Prototypowanie połączeń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38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83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127E8B-B7CF-4085-B050-F8588BE39A4D}"/>
              </a:ext>
            </a:extLst>
          </p:cNvPr>
          <p:cNvSpPr/>
          <p:nvPr/>
        </p:nvSpPr>
        <p:spPr>
          <a:xfrm>
            <a:off x="635000" y="2921000"/>
            <a:ext cx="1905000" cy="1016000"/>
          </a:xfrm>
          <a:prstGeom prst="round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F1B2D"/>
                </a:solidFill>
              </a:rPr>
              <a:t>BME280
BH1750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172E62-1022-4F41-A0E3-D3AC6E9FA115}"/>
              </a:ext>
            </a:extLst>
          </p:cNvPr>
          <p:cNvSpPr/>
          <p:nvPr/>
        </p:nvSpPr>
        <p:spPr>
          <a:xfrm>
            <a:off x="3683000" y="2921000"/>
            <a:ext cx="2032000" cy="1016000"/>
          </a:xfrm>
          <a:prstGeom prst="round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F1B2D"/>
                </a:solidFill>
              </a:rPr>
              <a:t>Raspberry Pi
Zero 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E3F4F0-F5F2-42FC-86EC-AD5AA6AF4891}"/>
              </a:ext>
            </a:extLst>
          </p:cNvPr>
          <p:cNvSpPr/>
          <p:nvPr/>
        </p:nvSpPr>
        <p:spPr>
          <a:xfrm>
            <a:off x="6858000" y="2921000"/>
            <a:ext cx="2032000" cy="1016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F1B2D"/>
                </a:solidFill>
              </a:rPr>
              <a:t>ThingSpeak
(chmura IoT)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9488D7-93FE-46B6-80E6-D2149D77E665}"/>
              </a:ext>
            </a:extLst>
          </p:cNvPr>
          <p:cNvSpPr/>
          <p:nvPr/>
        </p:nvSpPr>
        <p:spPr>
          <a:xfrm>
            <a:off x="10033000" y="2921000"/>
            <a:ext cx="1778000" cy="10160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F1B2D"/>
                </a:solidFill>
              </a:rPr>
              <a:t>Przeglądarka
(wykresy)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C377691-EB0C-498E-9649-DB42B797ECC8}"/>
              </a:ext>
            </a:extLst>
          </p:cNvPr>
          <p:cNvSpPr/>
          <p:nvPr/>
        </p:nvSpPr>
        <p:spPr>
          <a:xfrm>
            <a:off x="2603500" y="3302000"/>
            <a:ext cx="1016000" cy="254000"/>
          </a:xfrm>
          <a:prstGeom prst="rightArrow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AC8F03F-EE5D-4BC0-976B-0A7577FB2CDE}"/>
              </a:ext>
            </a:extLst>
          </p:cNvPr>
          <p:cNvSpPr/>
          <p:nvPr/>
        </p:nvSpPr>
        <p:spPr>
          <a:xfrm>
            <a:off x="5778500" y="3302000"/>
            <a:ext cx="1016000" cy="254000"/>
          </a:xfrm>
          <a:prstGeom prst="rightArrow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E9E1AA2-C547-4956-AAEB-7FECB97A6752}"/>
              </a:ext>
            </a:extLst>
          </p:cNvPr>
          <p:cNvSpPr/>
          <p:nvPr/>
        </p:nvSpPr>
        <p:spPr>
          <a:xfrm>
            <a:off x="8953500" y="3302000"/>
            <a:ext cx="1016000" cy="254000"/>
          </a:xfrm>
          <a:prstGeom prst="rightArrow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88911-EAB6-4DEA-A8A2-0E91DC52DE1B}"/>
              </a:ext>
            </a:extLst>
          </p:cNvPr>
          <p:cNvSpPr txBox="1"/>
          <p:nvPr/>
        </p:nvSpPr>
        <p:spPr>
          <a:xfrm>
            <a:off x="2603500" y="36830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94A3B8"/>
                </a:solidFill>
              </a:rPr>
              <a:t>I2C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C7AFD-0B55-434D-928E-8408843F38CD}"/>
              </a:ext>
            </a:extLst>
          </p:cNvPr>
          <p:cNvSpPr txBox="1"/>
          <p:nvPr/>
        </p:nvSpPr>
        <p:spPr>
          <a:xfrm>
            <a:off x="5778500" y="36830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94A3B8"/>
                </a:solidFill>
              </a:rPr>
              <a:t>WiFi / HTTP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C317D-441C-4DBC-9766-A84F16EC13E4}"/>
              </a:ext>
            </a:extLst>
          </p:cNvPr>
          <p:cNvSpPr txBox="1"/>
          <p:nvPr/>
        </p:nvSpPr>
        <p:spPr>
          <a:xfrm>
            <a:off x="8953500" y="36830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94A3B8"/>
                </a:solidFill>
              </a:rPr>
              <a:t>REST API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786BDE-710C-47A0-90D1-FB07FC1BC5C3}"/>
              </a:ext>
            </a:extLst>
          </p:cNvPr>
          <p:cNvSpPr txBox="1"/>
          <p:nvPr/>
        </p:nvSpPr>
        <p:spPr>
          <a:xfrm>
            <a:off x="635000" y="4826000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Przepływ danych: Czujniki odczytywane co 60s przez skrypt Python → dane wysyłane HTTP POST do ThingSpeak REST API → wizualizacja i eksport CSV</a:t>
            </a:r>
          </a:p>
        </p:txBody>
      </p:sp>
    </p:spTree>
    <p:extLst>
      <p:ext uri="{BB962C8B-B14F-4D97-AF65-F5344CB8AC3E}">
        <p14:creationId xmlns:p14="http://schemas.microsoft.com/office/powerpoint/2010/main" val="422032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ECB1F3-9778-46BB-B757-D27A9A63C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74156"/>
              </p:ext>
            </p:extLst>
          </p:nvPr>
        </p:nvGraphicFramePr>
        <p:xfrm>
          <a:off x="457200" y="1778000"/>
          <a:ext cx="635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51515805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3133151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21428964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2886566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Pin RPi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Funkcja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BME280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BH1750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5411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Pin 1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3.3V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VIN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VCC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6712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Pin 6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GND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505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Pin 3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SDA (GPIO 2)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SDA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SDA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732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Pin 5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SCL (GPIO 3)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SCL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SCL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726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7AF299-9701-429E-A8CF-51F7A1BBBFF9}"/>
              </a:ext>
            </a:extLst>
          </p:cNvPr>
          <p:cNvSpPr txBox="1"/>
          <p:nvPr/>
        </p:nvSpPr>
        <p:spPr>
          <a:xfrm>
            <a:off x="7112000" y="1778000"/>
            <a:ext cx="4699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>
                <a:solidFill>
                  <a:srgbClr val="CBD5E1"/>
                </a:solidFill>
              </a:rPr>
              <a:t>Kluczowe informacje:
• Oba czujniki na wspólnej magistrali I2C
• Tylko 4 kabelki z RPi do breadboard
• Bez rezystorów pull-up (wbudowane)
• Rozróżnianie po adresach I2C:
   BME280: 0x76
   BH1750: 0x23</a:t>
            </a:r>
            <a:endParaRPr lang="en-US" sz="1500">
              <a:solidFill>
                <a:srgbClr val="CBD5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E7993-129A-49B4-AD07-1DFD4B90C7A6}"/>
              </a:ext>
            </a:extLst>
          </p:cNvPr>
          <p:cNvSpPr txBox="1"/>
          <p:nvPr/>
        </p:nvSpPr>
        <p:spPr>
          <a:xfrm>
            <a:off x="457200" y="5588000"/>
            <a:ext cx="11277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>
                <a:solidFill>
                  <a:srgbClr val="64748B"/>
                </a:solidFill>
              </a:rPr>
              <a:t>Komunikacja I2C — dwuprzewodowy protokół szeregowy (SDA + SCL), do 400 kbit/s</a:t>
            </a:r>
            <a:endParaRPr lang="en-US" sz="14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78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5DEE04-A673-4535-AE40-F48D4B40B056}"/>
              </a:ext>
            </a:extLst>
          </p:cNvPr>
          <p:cNvSpPr txBox="1"/>
          <p:nvPr/>
        </p:nvSpPr>
        <p:spPr>
          <a:xfrm>
            <a:off x="609600" y="381000"/>
            <a:ext cx="10972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Implementacja oprogramowania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B5B87-6173-4CE5-BB66-497E36B0EC3F}"/>
              </a:ext>
            </a:extLst>
          </p:cNvPr>
          <p:cNvSpPr txBox="1"/>
          <p:nvPr/>
        </p:nvSpPr>
        <p:spPr>
          <a:xfrm>
            <a:off x="609600" y="1524000"/>
            <a:ext cx="5334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pl-PL" sz="1500" b="1" dirty="0">
                <a:solidFill>
                  <a:srgbClr val="06B6D4"/>
                </a:solidFill>
              </a:rPr>
              <a:t>Skrypt Python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Biblioteki Adafruit (CircuitPython)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Odczyt danych co 60 sekund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Wysyłanie HTTP POST do ThingSpeak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Obsługa błędów połączenia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Logowanie stanu do konsoli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8891A-8CF5-4A0B-8074-1B8A0914A955}"/>
              </a:ext>
            </a:extLst>
          </p:cNvPr>
          <p:cNvSpPr txBox="1"/>
          <p:nvPr/>
        </p:nvSpPr>
        <p:spPr>
          <a:xfrm>
            <a:off x="6223000" y="1524000"/>
            <a:ext cx="5334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pl-PL" sz="1500" b="1" dirty="0">
                <a:solidFill>
                  <a:srgbClr val="06B6D4"/>
                </a:solidFill>
              </a:rPr>
              <a:t>Automatyzacja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Usługa systemd na RPi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Autostart po zasilaniu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Ciągła praca 24/7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Brak interwencji użytkownika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Kod źródłowy na GitHub:</a:t>
            </a:r>
          </a:p>
          <a:p>
            <a:pPr marL="457200" indent="-457200">
              <a:buFont typeface="Arial"/>
              <a:buChar char="•"/>
            </a:pPr>
            <a:r>
              <a:rPr lang="pl-PL" sz="1500" b="1" dirty="0">
                <a:solidFill>
                  <a:srgbClr val="06B6D4"/>
                </a:solidFill>
              </a:rPr>
              <a:t>github.com/oszypczy/scir</a:t>
            </a:r>
          </a:p>
        </p:txBody>
      </p:sp>
    </p:spTree>
    <p:extLst>
      <p:ext uri="{BB962C8B-B14F-4D97-AF65-F5344CB8AC3E}">
        <p14:creationId xmlns:p14="http://schemas.microsoft.com/office/powerpoint/2010/main" val="231751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6874A-9374-4552-B2FD-16B59F4764EE}"/>
              </a:ext>
            </a:extLst>
          </p:cNvPr>
          <p:cNvSpPr txBox="1"/>
          <p:nvPr/>
        </p:nvSpPr>
        <p:spPr>
          <a:xfrm>
            <a:off x="609600" y="2072670"/>
            <a:ext cx="10972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ThingSpeak — platforma IoT w chmurze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D2F1F-04EE-4FC1-A169-2B47D6679F3B}"/>
              </a:ext>
            </a:extLst>
          </p:cNvPr>
          <p:cNvSpPr txBox="1"/>
          <p:nvPr/>
        </p:nvSpPr>
        <p:spPr>
          <a:xfrm>
            <a:off x="609600" y="3215670"/>
            <a:ext cx="109728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pl-PL" sz="1600" dirty="0">
                <a:solidFill>
                  <a:srgbClr val="94A3B8"/>
                </a:solidFill>
              </a:rPr>
              <a:t>Darmowa platforma MathWorks z kontem uczelnianym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4 kanały danych: Temperature, Humidity, Pressure, Light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REST API — prosty HTTP POST z kluczem API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Automatyczne wykresy w przeglądarce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Eksport danych do CSV / JSON</a:t>
            </a:r>
          </a:p>
          <a:p>
            <a:pPr marL="457200" indent="-457200">
              <a:buFont typeface="Arial"/>
              <a:buChar char="•"/>
            </a:pPr>
            <a:r>
              <a:rPr lang="pl-PL" sz="1600" dirty="0">
                <a:solidFill>
                  <a:srgbClr val="CBD5E1"/>
                </a:solidFill>
              </a:rPr>
              <a:t>Integracja z MATLAB do zaawansowanej analizy</a:t>
            </a:r>
          </a:p>
        </p:txBody>
      </p:sp>
    </p:spTree>
    <p:extLst>
      <p:ext uri="{BB962C8B-B14F-4D97-AF65-F5344CB8AC3E}">
        <p14:creationId xmlns:p14="http://schemas.microsoft.com/office/powerpoint/2010/main" val="2868569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D67878-8018-41B4-8AAE-98C7A4F2AFD9}"/>
              </a:ext>
            </a:extLst>
          </p:cNvPr>
          <p:cNvSpPr txBox="1"/>
          <p:nvPr/>
        </p:nvSpPr>
        <p:spPr>
          <a:xfrm>
            <a:off x="1270000" y="2032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0F4F8"/>
                </a:solidFill>
              </a:rPr>
              <a:t>Analiza zebranych danych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F5463-6CCF-4CF0-9C26-49B36653994B}"/>
              </a:ext>
            </a:extLst>
          </p:cNvPr>
          <p:cNvSpPr txBox="1"/>
          <p:nvPr/>
        </p:nvSpPr>
        <p:spPr>
          <a:xfrm>
            <a:off x="1270000" y="3302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>
                <a:solidFill>
                  <a:srgbClr val="06B6D4"/>
                </a:solidFill>
              </a:rPr>
              <a:t>1 388 pomiarów  •  23 godziny obserwacji  •  4 parametry</a:t>
            </a:r>
            <a:endParaRPr lang="en-US">
              <a:solidFill>
                <a:srgbClr val="06B6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7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57BA14-A153-49D2-B2E0-0E03FC823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941327"/>
              </p:ext>
            </p:extLst>
          </p:nvPr>
        </p:nvGraphicFramePr>
        <p:xfrm>
          <a:off x="457200" y="1778000"/>
          <a:ext cx="112776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4051089004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87773348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796871626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628968406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892667538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79859507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Parametr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Średnia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Mediana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Odch. std.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Min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F1B2D"/>
                          </a:solidFill>
                        </a:rPr>
                        <a:t>Max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128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Temperatura [°C]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13.06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13.38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4.62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5.25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21.73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8542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Wilgotność [%]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39.41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35.34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9.40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21.14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56.98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31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Ciśnienie [hPa]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1006.74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1006.67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1.08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1005.00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1008.46</a:t>
                      </a:r>
                    </a:p>
                  </a:txBody>
                  <a:tcPr anchor="ctr"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20563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Światło [lux]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95.14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14.58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136.62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0.00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CBD5E1"/>
                          </a:solidFill>
                        </a:rPr>
                        <a:t>742.08</a:t>
                      </a:r>
                    </a:p>
                  </a:txBody>
                  <a:tcPr anchor="ctr">
                    <a:solidFill>
                      <a:srgbClr val="16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5752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05826E-EC5E-4D70-93C3-54F89A83156C}"/>
              </a:ext>
            </a:extLst>
          </p:cNvPr>
          <p:cNvSpPr txBox="1"/>
          <p:nvPr/>
        </p:nvSpPr>
        <p:spPr>
          <a:xfrm>
            <a:off x="457200" y="5461000"/>
            <a:ext cx="11277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>
                <a:solidFill>
                  <a:srgbClr val="64748B"/>
                </a:solidFill>
              </a:rPr>
              <a:t>Zakres analizy: 08.04.2026 16:01 – 09.04.2026 15:08  |  1 388 pomiarów (najdłuższy ciągły 24h okres)</a:t>
            </a:r>
            <a:endParaRPr lang="en-US" sz="14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807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B0935-E8B1-9AFF-9228-042DF08FC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06" y="1079500"/>
            <a:ext cx="5375787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44A5FE-4051-4268-8F0D-A80F146BF403}"/>
              </a:ext>
            </a:extLst>
          </p:cNvPr>
          <p:cNvSpPr txBox="1"/>
          <p:nvPr/>
        </p:nvSpPr>
        <p:spPr>
          <a:xfrm>
            <a:off x="609600" y="2286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</a:rPr>
              <a:t>Przebiegi czasowe parametrów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A52FC-48DD-4C1B-9E6E-8FD9C7D8A863}"/>
              </a:ext>
            </a:extLst>
          </p:cNvPr>
          <p:cNvSpPr txBox="1"/>
          <p:nvPr/>
        </p:nvSpPr>
        <p:spPr>
          <a:xfrm>
            <a:off x="762000" y="5080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Wykresy prezentują temperaturę, wilgotność, ciśnienie i natężenie światła w ciągu 23 godzin (1 388 pomiarów).</a:t>
            </a:r>
          </a:p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Wybrano najdłuższy ciągły okres pomiarowy (75% wszystkich danych); ciśnienie stabilne w wąskim zakresie 1005–1008 hPa.</a:t>
            </a:r>
          </a:p>
        </p:txBody>
      </p:sp>
    </p:spTree>
    <p:extLst>
      <p:ext uri="{BB962C8B-B14F-4D97-AF65-F5344CB8AC3E}">
        <p14:creationId xmlns:p14="http://schemas.microsoft.com/office/powerpoint/2010/main" val="111472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50CCC-1D80-52D8-6DEC-0D7157573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907" y="1079500"/>
            <a:ext cx="4460185" cy="368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841193-8EA8-43DC-993D-52BB301348AF}"/>
              </a:ext>
            </a:extLst>
          </p:cNvPr>
          <p:cNvSpPr txBox="1"/>
          <p:nvPr/>
        </p:nvSpPr>
        <p:spPr>
          <a:xfrm>
            <a:off x="609600" y="2286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</a:rPr>
              <a:t>Macierz korelacji Pearsona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1576C-2F5E-44EC-AF15-6D82E44A639C}"/>
              </a:ext>
            </a:extLst>
          </p:cNvPr>
          <p:cNvSpPr txBox="1"/>
          <p:nvPr/>
        </p:nvSpPr>
        <p:spPr>
          <a:xfrm>
            <a:off x="762000" y="50165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Najsilniejsza korelacja: </a:t>
            </a:r>
            <a:r>
              <a:rPr lang="pl-PL" sz="1400" b="1" dirty="0">
                <a:solidFill>
                  <a:srgbClr val="06B6D4"/>
                </a:solidFill>
              </a:rPr>
              <a:t>temperatura ↔ wilgotność (r = –0.83)</a:t>
            </a:r>
            <a:r>
              <a:rPr lang="pl-PL" sz="1400" dirty="0">
                <a:solidFill>
                  <a:srgbClr val="94A3B8"/>
                </a:solidFill>
              </a:rPr>
              <a:t> — silna zależność ujemna.</a:t>
            </a:r>
          </a:p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Druga w kolejności: ciśnienie ↔ światło (r = –0.70). Wilgotność ↔ ciśnienie (r = +0.61) — istotna zależność dodatnia.</a:t>
            </a:r>
          </a:p>
        </p:txBody>
      </p:sp>
    </p:spTree>
    <p:extLst>
      <p:ext uri="{BB962C8B-B14F-4D97-AF65-F5344CB8AC3E}">
        <p14:creationId xmlns:p14="http://schemas.microsoft.com/office/powerpoint/2010/main" val="263104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4AD57-E60B-94AB-2113-9C5235F9A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501" y="1079500"/>
            <a:ext cx="4602996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9BDCA-6695-4FFA-A935-CD7F36FF2ED3}"/>
              </a:ext>
            </a:extLst>
          </p:cNvPr>
          <p:cNvSpPr txBox="1"/>
          <p:nvPr/>
        </p:nvSpPr>
        <p:spPr>
          <a:xfrm>
            <a:off x="609600" y="2286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</a:rPr>
              <a:t>Korelacje między parametrami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1473E-54FF-4517-8D64-74C11B532C7F}"/>
              </a:ext>
            </a:extLst>
          </p:cNvPr>
          <p:cNvSpPr txBox="1"/>
          <p:nvPr/>
        </p:nvSpPr>
        <p:spPr>
          <a:xfrm>
            <a:off x="762000" y="5080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Wykresy rozrzutu z liniami regresji i współczynnikami R² dla każdej pary parametrów.</a:t>
            </a:r>
          </a:p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Temperatura vs wilgotność (R²=0.69) — wyraźny trend liniowy. Ciśnienie vs światło (R²=0.49) i wilgotność vs ciśnienie (R²=0.37) — umiarkowane zależności.</a:t>
            </a:r>
          </a:p>
        </p:txBody>
      </p:sp>
    </p:spTree>
    <p:extLst>
      <p:ext uri="{BB962C8B-B14F-4D97-AF65-F5344CB8AC3E}">
        <p14:creationId xmlns:p14="http://schemas.microsoft.com/office/powerpoint/2010/main" val="2740922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0D787-037E-D45C-0CCF-DAFD7C9D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336" y="1079500"/>
            <a:ext cx="5755326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249A36-84CD-4AB8-9ED8-B2347D145F73}"/>
              </a:ext>
            </a:extLst>
          </p:cNvPr>
          <p:cNvSpPr txBox="1"/>
          <p:nvPr/>
        </p:nvSpPr>
        <p:spPr>
          <a:xfrm>
            <a:off x="609600" y="2286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</a:rPr>
              <a:t>Profil dobowy parametrów (±1</a:t>
            </a:r>
            <a:r>
              <a:rPr lang="el-GR" sz="2800" b="1">
                <a:solidFill>
                  <a:srgbClr val="F0F4F8"/>
                </a:solidFill>
              </a:rPr>
              <a:t>σ)</a:t>
            </a:r>
            <a:endParaRPr lang="en-US" sz="2800" b="1">
              <a:solidFill>
                <a:srgbClr val="F0F4F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7C1A7-547B-4FC7-8D18-34A619931406}"/>
              </a:ext>
            </a:extLst>
          </p:cNvPr>
          <p:cNvSpPr txBox="1"/>
          <p:nvPr/>
        </p:nvSpPr>
        <p:spPr>
          <a:xfrm>
            <a:off x="762000" y="5080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Uśrednione wartości godzinowe z zakresem ±1 odchylenia standardowego.</a:t>
            </a:r>
          </a:p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Temperatura najwyższa wczesnym popołudniem, światło dominuje 9–15h. Wilgotność rośnie wieczorem (inwersja temp.).</a:t>
            </a:r>
          </a:p>
        </p:txBody>
      </p:sp>
    </p:spTree>
    <p:extLst>
      <p:ext uri="{BB962C8B-B14F-4D97-AF65-F5344CB8AC3E}">
        <p14:creationId xmlns:p14="http://schemas.microsoft.com/office/powerpoint/2010/main" val="4166880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C517A-565F-EDC8-55C7-C12DF505B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418" y="1079500"/>
            <a:ext cx="6367162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3F3BF-91EE-4D8E-AB07-82BCD7B12762}"/>
              </a:ext>
            </a:extLst>
          </p:cNvPr>
          <p:cNvSpPr txBox="1"/>
          <p:nvPr/>
        </p:nvSpPr>
        <p:spPr>
          <a:xfrm>
            <a:off x="609600" y="2286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</a:rPr>
              <a:t>Porównanie dzień vs noc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7A555-E616-400E-829F-ED7219777B8E}"/>
              </a:ext>
            </a:extLst>
          </p:cNvPr>
          <p:cNvSpPr txBox="1"/>
          <p:nvPr/>
        </p:nvSpPr>
        <p:spPr>
          <a:xfrm>
            <a:off x="762000" y="5080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Box ploty porównują rozkłady temperatury i wilgotności w dzień (6–18h) i w nocy (18–6h).</a:t>
            </a:r>
          </a:p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Dzień: śr. temp. </a:t>
            </a:r>
            <a:r>
              <a:rPr lang="pl-PL" sz="1400" b="1" dirty="0">
                <a:solidFill>
                  <a:srgbClr val="06B6D4"/>
                </a:solidFill>
              </a:rPr>
              <a:t>13.0°C</a:t>
            </a:r>
            <a:r>
              <a:rPr lang="pl-PL" sz="1400" dirty="0">
                <a:solidFill>
                  <a:srgbClr val="94A3B8"/>
                </a:solidFill>
              </a:rPr>
              <a:t> vs noc </a:t>
            </a:r>
            <a:r>
              <a:rPr lang="pl-PL" sz="1400" b="1" dirty="0">
                <a:solidFill>
                  <a:srgbClr val="06B6D4"/>
                </a:solidFill>
              </a:rPr>
              <a:t>13.1°C</a:t>
            </a:r>
            <a:r>
              <a:rPr lang="pl-PL" sz="1400" dirty="0">
                <a:solidFill>
                  <a:srgbClr val="94A3B8"/>
                </a:solidFill>
              </a:rPr>
              <a:t>. Wilgotność wyższa nocą (śr. 41.2% vs 37.7% w dzień).</a:t>
            </a:r>
          </a:p>
        </p:txBody>
      </p:sp>
    </p:spTree>
    <p:extLst>
      <p:ext uri="{BB962C8B-B14F-4D97-AF65-F5344CB8AC3E}">
        <p14:creationId xmlns:p14="http://schemas.microsoft.com/office/powerpoint/2010/main" val="1959771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9B54E-39AA-0F7D-E184-12FB068DC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724" y="1079500"/>
            <a:ext cx="575855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446A91-2AD9-4E62-B063-DA7F77708704}"/>
              </a:ext>
            </a:extLst>
          </p:cNvPr>
          <p:cNvSpPr txBox="1"/>
          <p:nvPr/>
        </p:nvSpPr>
        <p:spPr>
          <a:xfrm>
            <a:off x="609600" y="2286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</a:rPr>
              <a:t>Rozkłady wartości czujników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16B8D-7725-4932-B012-3FFB2BB41EEF}"/>
              </a:ext>
            </a:extLst>
          </p:cNvPr>
          <p:cNvSpPr txBox="1"/>
          <p:nvPr/>
        </p:nvSpPr>
        <p:spPr>
          <a:xfrm>
            <a:off x="762000" y="50800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Histogramy z zaznaczoną średnią (linia przerywana) i medianą (linia kropkowana).</a:t>
            </a:r>
          </a:p>
          <a:p>
            <a:pPr algn="ctr">
              <a:buNone/>
            </a:pPr>
            <a:r>
              <a:rPr lang="pl-PL" sz="1400" dirty="0">
                <a:solidFill>
                  <a:srgbClr val="94A3B8"/>
                </a:solidFill>
              </a:rPr>
              <a:t>Temperatura w zakresie 5–22°C (rozkład bimodalny: dolny 6–11°C i górny 15–18°C). Światło silnie skośne w prawo (mediana 15 lux vs śr. 95 lux).</a:t>
            </a:r>
          </a:p>
        </p:txBody>
      </p:sp>
    </p:spTree>
    <p:extLst>
      <p:ext uri="{BB962C8B-B14F-4D97-AF65-F5344CB8AC3E}">
        <p14:creationId xmlns:p14="http://schemas.microsoft.com/office/powerpoint/2010/main" val="387049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ACCA5D-C37C-48EA-A68F-6989C2BDB254}"/>
              </a:ext>
            </a:extLst>
          </p:cNvPr>
          <p:cNvSpPr txBox="1"/>
          <p:nvPr/>
        </p:nvSpPr>
        <p:spPr>
          <a:xfrm>
            <a:off x="609600" y="1605255"/>
            <a:ext cx="10972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0F4F8"/>
                </a:solidFill>
              </a:rPr>
              <a:t>Podsumowanie i wnioski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CEBC6-6D9A-4A3C-9E4F-2879EE39DB1B}"/>
              </a:ext>
            </a:extLst>
          </p:cNvPr>
          <p:cNvSpPr txBox="1"/>
          <p:nvPr/>
        </p:nvSpPr>
        <p:spPr>
          <a:xfrm>
            <a:off x="609600" y="2621255"/>
            <a:ext cx="10972800" cy="21698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pl-PL" sz="1500" b="1" dirty="0">
                <a:solidFill>
                  <a:srgbClr val="06B6D4"/>
                </a:solidFill>
              </a:rPr>
              <a:t>Kluczowe obserwacje z danych: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Silna korelacja ujemna temperatura ↔ wilgotność (r = –0.83)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Temperatura podobna w dzień i w nocy (13.0 vs 13.1°C); wilgotność wyższa nocą (41.2% vs 37.7%)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Ciśnienie stabilne (51%) lub spada (44%) — wyraźny trend spadkowy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Światło: wysoka zmienność (std = 137 lux), mediana 15 lux</a:t>
            </a:r>
          </a:p>
          <a:p>
            <a:pPr marL="0" indent="0">
              <a:buNone/>
            </a:pPr>
            <a:r>
              <a:rPr lang="pl-PL" sz="1500" b="1" dirty="0">
                <a:solidFill>
                  <a:srgbClr val="06B6D4"/>
                </a:solidFill>
              </a:rPr>
              <a:t>Wnioski techniczne: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Raspberry Pi Zero W — wystarczający do ciągłego monitoringu IoT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ThingSpeak — prosta integracja z czujnikami przez REST API</a:t>
            </a:r>
          </a:p>
          <a:p>
            <a:pPr marL="457200" indent="-457200">
              <a:buFont typeface="Arial"/>
              <a:buChar char="•"/>
            </a:pPr>
            <a:r>
              <a:rPr lang="pl-PL" sz="1500" dirty="0">
                <a:solidFill>
                  <a:srgbClr val="CBD5E1"/>
                </a:solidFill>
              </a:rPr>
              <a:t>Magistrala I2C — łatwe podłączenie wielu czujników</a:t>
            </a:r>
          </a:p>
        </p:txBody>
      </p:sp>
    </p:spTree>
    <p:extLst>
      <p:ext uri="{BB962C8B-B14F-4D97-AF65-F5344CB8AC3E}">
        <p14:creationId xmlns:p14="http://schemas.microsoft.com/office/powerpoint/2010/main" val="208341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DB5E46-AA83-4749-A168-DDDE1887DF9A}"/>
              </a:ext>
            </a:extLst>
          </p:cNvPr>
          <p:cNvSpPr txBox="1"/>
          <p:nvPr/>
        </p:nvSpPr>
        <p:spPr>
          <a:xfrm>
            <a:off x="1270000" y="2413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>
                <a:solidFill>
                  <a:srgbClr val="F0F4F8"/>
                </a:solidFill>
              </a:rPr>
              <a:t>Dziękujemy za uwagę!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9E8AF-C87E-4C20-9A97-B165AD31D8CB}"/>
              </a:ext>
            </a:extLst>
          </p:cNvPr>
          <p:cNvSpPr txBox="1"/>
          <p:nvPr/>
        </p:nvSpPr>
        <p:spPr>
          <a:xfrm>
            <a:off x="1270000" y="3683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06B6D4"/>
                </a:solidFill>
              </a:rPr>
              <a:t>github.com/oszypczy/scir
Oliwier Szypczyn  •  Kacper Multan</a:t>
            </a:r>
          </a:p>
        </p:txBody>
      </p:sp>
    </p:spTree>
    <p:extLst>
      <p:ext uri="{BB962C8B-B14F-4D97-AF65-F5344CB8AC3E}">
        <p14:creationId xmlns:p14="http://schemas.microsoft.com/office/powerpoint/2010/main" val="328327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036399228]">
  <a:themeElements>
    <a:clrScheme name="Office">
      <a:dk1>
        <a:srgbClr val="F0F4F8"/>
      </a:dk1>
      <a:lt1>
        <a:srgbClr val="0F1B2D"/>
      </a:lt1>
      <a:dk2>
        <a:srgbClr val="CBD5E1"/>
      </a:dk2>
      <a:lt2>
        <a:srgbClr val="1A2942"/>
      </a:lt2>
      <a:accent1>
        <a:srgbClr val="06B6D4"/>
      </a:accent1>
      <a:accent2>
        <a:srgbClr val="22D3EE"/>
      </a:accent2>
      <a:accent3>
        <a:srgbClr val="F59E0B"/>
      </a:accent3>
      <a:accent4>
        <a:srgbClr val="10B981"/>
      </a:accent4>
      <a:accent5>
        <a:srgbClr val="8B5CF6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5188513-6d48-4348-9398-60e23891a85a}">
  <we:reference id="WA200010001" version="1.0.0.1" store="en-US" storeType="OMEX"/>
  <we:alternateReferences/>
  <we:properties>
    <we:property name="Microsoft.Office.CampaignId" value="&quot;none&quot;"/>
    <we:property name="claude.fileId" value="&quot;327bdc53-6849-4d7d-9bf9-e071fead05d0&quot;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787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Segoe UI</vt:lpstr>
      <vt:lpstr>Office Theme [1777036399228]</vt:lpstr>
      <vt:lpstr>Stacja Pogodowa
na Raspberry Pi Zero 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Kacper Multan</cp:lastModifiedBy>
  <cp:revision>4</cp:revision>
  <dcterms:created xsi:type="dcterms:W3CDTF">2018-06-07T21:39:02Z</dcterms:created>
  <dcterms:modified xsi:type="dcterms:W3CDTF">2026-04-24T14:32:43Z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